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1C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0ACEA-D034-4619-A9CB-6C80CE4EE89B}" v="1" dt="2026-03-10T13:10:33.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artha singh" userId="e33870c0985bcff4" providerId="LiveId" clId="{A157DB04-55D9-4677-9260-0BDF1CC78F12}"/>
    <pc:docChg chg="modSld">
      <pc:chgData name="siddhartha singh" userId="e33870c0985bcff4" providerId="LiveId" clId="{A157DB04-55D9-4677-9260-0BDF1CC78F12}" dt="2026-03-10T13:09:39.709" v="20" actId="20577"/>
      <pc:docMkLst>
        <pc:docMk/>
      </pc:docMkLst>
      <pc:sldChg chg="modSp mod">
        <pc:chgData name="siddhartha singh" userId="e33870c0985bcff4" providerId="LiveId" clId="{A157DB04-55D9-4677-9260-0BDF1CC78F12}" dt="2026-03-10T13:09:39.709" v="20" actId="20577"/>
        <pc:sldMkLst>
          <pc:docMk/>
          <pc:sldMk cId="0" sldId="256"/>
        </pc:sldMkLst>
        <pc:spChg chg="mod">
          <ac:chgData name="siddhartha singh" userId="e33870c0985bcff4" providerId="LiveId" clId="{A157DB04-55D9-4677-9260-0BDF1CC78F12}" dt="2026-03-10T13:09:39.709" v="20"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527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6003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Design Thinking &amp; Innovation</a:t>
            </a:r>
            <a:endParaRPr lang="en-US" sz="4450" dirty="0"/>
          </a:p>
        </p:txBody>
      </p:sp>
      <p:sp>
        <p:nvSpPr>
          <p:cNvPr id="4" name="Text 1"/>
          <p:cNvSpPr/>
          <p:nvPr/>
        </p:nvSpPr>
        <p:spPr>
          <a:xfrm>
            <a:off x="6280190" y="3668316"/>
            <a:ext cx="5484614"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Case Studies of Nike, Airbnb, and Oral B</a:t>
            </a:r>
            <a:endParaRPr lang="en-US" sz="2200" dirty="0"/>
          </a:p>
        </p:txBody>
      </p:sp>
      <p:sp>
        <p:nvSpPr>
          <p:cNvPr id="5" name="Text 2"/>
          <p:cNvSpPr/>
          <p:nvPr/>
        </p:nvSpPr>
        <p:spPr>
          <a:xfrm>
            <a:off x="6280190" y="4362807"/>
            <a:ext cx="7556421" cy="725805"/>
          </a:xfrm>
          <a:prstGeom prst="rect">
            <a:avLst/>
          </a:prstGeom>
          <a:noFill/>
          <a:ln/>
        </p:spPr>
        <p:txBody>
          <a:bodyPr wrap="square" lIns="0" tIns="0" rIns="0" bIns="0" rtlCol="0" anchor="t"/>
          <a:lstStyle/>
          <a:p>
            <a:pPr marL="0" indent="0" algn="l">
              <a:lnSpc>
                <a:spcPts val="2850"/>
              </a:lnSpc>
              <a:buNone/>
            </a:pPr>
            <a:r>
              <a:rPr lang="en-US" sz="1750" b="1" dirty="0">
                <a:solidFill>
                  <a:srgbClr val="CFCBBF"/>
                </a:solidFill>
                <a:latin typeface="Raleway" pitchFamily="34" charset="0"/>
                <a:ea typeface="Raleway" pitchFamily="34" charset="-122"/>
                <a:cs typeface="Raleway" pitchFamily="34" charset="-120"/>
              </a:rPr>
              <a:t>Presented By:</a:t>
            </a:r>
            <a:r>
              <a:rPr lang="en-US" sz="1750" dirty="0">
                <a:solidFill>
                  <a:srgbClr val="CFCBBF"/>
                </a:solidFill>
                <a:latin typeface="Raleway" pitchFamily="34" charset="0"/>
                <a:ea typeface="Raleway" pitchFamily="34" charset="-122"/>
                <a:cs typeface="Raleway" pitchFamily="34" charset="-120"/>
              </a:rPr>
              <a:t> Siddhartha Singh, Shivam Singh, Satyam Kumar, Rahul Sharma, Raunak Sahay, Parnashree Paul,, Pratyush Hazra</a:t>
            </a:r>
            <a:endParaRPr lang="en-US" sz="1750" dirty="0"/>
          </a:p>
        </p:txBody>
      </p:sp>
      <p:sp>
        <p:nvSpPr>
          <p:cNvPr id="6" name="Text 3"/>
          <p:cNvSpPr/>
          <p:nvPr/>
        </p:nvSpPr>
        <p:spPr>
          <a:xfrm>
            <a:off x="6280190" y="5343763"/>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Guru Nanak Institute of Technology, Department of Information Technology</a:t>
            </a:r>
            <a:endParaRPr lang="en-US" sz="1750" dirty="0"/>
          </a:p>
        </p:txBody>
      </p:sp>
      <p:sp>
        <p:nvSpPr>
          <p:cNvPr id="7" name="Rectangle 6">
            <a:extLst>
              <a:ext uri="{FF2B5EF4-FFF2-40B4-BE49-F238E27FC236}">
                <a16:creationId xmlns:a16="http://schemas.microsoft.com/office/drawing/2014/main" id="{E04BDA40-A223-1E64-1C1E-82C666C3E016}"/>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92536"/>
            <a:ext cx="6950631"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What is Design Thinking?</a:t>
            </a:r>
            <a:endParaRPr lang="en-US" sz="4450" dirty="0"/>
          </a:p>
        </p:txBody>
      </p:sp>
      <p:sp>
        <p:nvSpPr>
          <p:cNvPr id="4" name="Text 1"/>
          <p:cNvSpPr/>
          <p:nvPr/>
        </p:nvSpPr>
        <p:spPr>
          <a:xfrm>
            <a:off x="6280190" y="3241477"/>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Design Thinking is a </a:t>
            </a:r>
            <a:r>
              <a:rPr lang="en-US" sz="1750" b="1" dirty="0">
                <a:solidFill>
                  <a:srgbClr val="CFCBBF"/>
                </a:solidFill>
                <a:latin typeface="Raleway" pitchFamily="34" charset="0"/>
                <a:ea typeface="Raleway" pitchFamily="34" charset="-122"/>
                <a:cs typeface="Raleway" pitchFamily="34" charset="-120"/>
              </a:rPr>
              <a:t>human-centered approach to innovation</a:t>
            </a:r>
            <a:r>
              <a:rPr lang="en-US" sz="1750" dirty="0">
                <a:solidFill>
                  <a:srgbClr val="CFCBBF"/>
                </a:solidFill>
                <a:latin typeface="Raleway" pitchFamily="34" charset="0"/>
                <a:ea typeface="Raleway" pitchFamily="34" charset="-122"/>
                <a:cs typeface="Raleway" pitchFamily="34" charset="-120"/>
              </a:rPr>
              <a:t> that focuses on deeply understanding user needs and solving problems creatively. This methodology helps organizations create products and services that truly resonate with their customers by placing user experience at the center of every decision.</a:t>
            </a:r>
            <a:endParaRPr lang="en-US" sz="1750" dirty="0"/>
          </a:p>
        </p:txBody>
      </p:sp>
      <p:sp>
        <p:nvSpPr>
          <p:cNvPr id="5" name="Text 2"/>
          <p:cNvSpPr/>
          <p:nvPr/>
        </p:nvSpPr>
        <p:spPr>
          <a:xfrm>
            <a:off x="6280190" y="5311140"/>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It's not just a process—it's a mindset that combines empathy with experimentation to drive meaningful innovation.</a:t>
            </a:r>
            <a:endParaRPr lang="en-US" sz="1750" dirty="0"/>
          </a:p>
        </p:txBody>
      </p:sp>
      <p:sp>
        <p:nvSpPr>
          <p:cNvPr id="6" name="Rectangle 5">
            <a:extLst>
              <a:ext uri="{FF2B5EF4-FFF2-40B4-BE49-F238E27FC236}">
                <a16:creationId xmlns:a16="http://schemas.microsoft.com/office/drawing/2014/main" id="{FC9A13E9-512A-1ACC-98D0-83155381A340}"/>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86044"/>
            <a:ext cx="8335208"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Five Stages of Design Thinking</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Prata Light" pitchFamily="34" charset="0"/>
                <a:ea typeface="Prata Light" pitchFamily="34" charset="-122"/>
                <a:cs typeface="Prata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203496"/>
            <a:ext cx="4196358" cy="30480"/>
          </a:xfrm>
          <a:prstGeom prst="rect">
            <a:avLst/>
          </a:prstGeom>
        </p:spPr>
      </p:pic>
      <p:sp>
        <p:nvSpPr>
          <p:cNvPr id="5" name="Text 2"/>
          <p:cNvSpPr/>
          <p:nvPr/>
        </p:nvSpPr>
        <p:spPr>
          <a:xfrm>
            <a:off x="793790" y="33778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Empathize</a:t>
            </a:r>
            <a:endParaRPr lang="en-US" sz="2200" dirty="0"/>
          </a:p>
        </p:txBody>
      </p:sp>
      <p:sp>
        <p:nvSpPr>
          <p:cNvPr id="6" name="Text 3"/>
          <p:cNvSpPr/>
          <p:nvPr/>
        </p:nvSpPr>
        <p:spPr>
          <a:xfrm>
            <a:off x="793790"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Understand user needs through observation and engagement</a:t>
            </a:r>
            <a:endParaRPr lang="en-US" sz="1750" dirty="0"/>
          </a:p>
        </p:txBody>
      </p:sp>
      <p:sp>
        <p:nvSpPr>
          <p:cNvPr id="7" name="Text 4"/>
          <p:cNvSpPr/>
          <p:nvPr/>
        </p:nvSpPr>
        <p:spPr>
          <a:xfrm>
            <a:off x="5216962"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Prata Light" pitchFamily="34" charset="0"/>
                <a:ea typeface="Prata Light" pitchFamily="34" charset="-122"/>
                <a:cs typeface="Prata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5216962" y="3203496"/>
            <a:ext cx="4196358" cy="30480"/>
          </a:xfrm>
          <a:prstGeom prst="rect">
            <a:avLst/>
          </a:prstGeom>
        </p:spPr>
      </p:pic>
      <p:sp>
        <p:nvSpPr>
          <p:cNvPr id="9" name="Text 5"/>
          <p:cNvSpPr/>
          <p:nvPr/>
        </p:nvSpPr>
        <p:spPr>
          <a:xfrm>
            <a:off x="5216962" y="33778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Define</a:t>
            </a:r>
            <a:endParaRPr lang="en-US" sz="2200" dirty="0"/>
          </a:p>
        </p:txBody>
      </p:sp>
      <p:sp>
        <p:nvSpPr>
          <p:cNvPr id="10" name="Text 6"/>
          <p:cNvSpPr/>
          <p:nvPr/>
        </p:nvSpPr>
        <p:spPr>
          <a:xfrm>
            <a:off x="5216962"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Identify and articulate the core problem to solve</a:t>
            </a:r>
            <a:endParaRPr lang="en-US" sz="1750" dirty="0"/>
          </a:p>
        </p:txBody>
      </p:sp>
      <p:sp>
        <p:nvSpPr>
          <p:cNvPr id="11" name="Text 7"/>
          <p:cNvSpPr/>
          <p:nvPr/>
        </p:nvSpPr>
        <p:spPr>
          <a:xfrm>
            <a:off x="9640133"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Prata Light" pitchFamily="34" charset="0"/>
                <a:ea typeface="Prata Light" pitchFamily="34" charset="-122"/>
                <a:cs typeface="Prata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9640133" y="3203496"/>
            <a:ext cx="4196358" cy="30480"/>
          </a:xfrm>
          <a:prstGeom prst="rect">
            <a:avLst/>
          </a:prstGeom>
        </p:spPr>
      </p:pic>
      <p:sp>
        <p:nvSpPr>
          <p:cNvPr id="13" name="Text 8"/>
          <p:cNvSpPr/>
          <p:nvPr/>
        </p:nvSpPr>
        <p:spPr>
          <a:xfrm>
            <a:off x="9640133" y="33778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Ideate</a:t>
            </a:r>
            <a:endParaRPr lang="en-US" sz="2200" dirty="0"/>
          </a:p>
        </p:txBody>
      </p:sp>
      <p:sp>
        <p:nvSpPr>
          <p:cNvPr id="14" name="Text 9"/>
          <p:cNvSpPr/>
          <p:nvPr/>
        </p:nvSpPr>
        <p:spPr>
          <a:xfrm>
            <a:off x="9640133"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Generate a wide range of creative ideas and solutions</a:t>
            </a:r>
            <a:endParaRPr lang="en-US" sz="1750" dirty="0"/>
          </a:p>
        </p:txBody>
      </p:sp>
      <p:sp>
        <p:nvSpPr>
          <p:cNvPr id="15" name="Text 10"/>
          <p:cNvSpPr/>
          <p:nvPr/>
        </p:nvSpPr>
        <p:spPr>
          <a:xfrm>
            <a:off x="793790" y="49908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Prata Light" pitchFamily="34" charset="0"/>
                <a:ea typeface="Prata Light" pitchFamily="34" charset="-122"/>
                <a:cs typeface="Prata Light" pitchFamily="34" charset="-120"/>
              </a:rPr>
              <a:t>04</a:t>
            </a:r>
            <a:endParaRPr lang="en-US" sz="1750" dirty="0"/>
          </a:p>
        </p:txBody>
      </p:sp>
      <p:pic>
        <p:nvPicPr>
          <p:cNvPr id="16" name="Image 3" descr="preencoded.png"/>
          <p:cNvPicPr>
            <a:picLocks noChangeAspect="1"/>
          </p:cNvPicPr>
          <p:nvPr/>
        </p:nvPicPr>
        <p:blipFill>
          <a:blip r:embed="rId4"/>
          <a:stretch>
            <a:fillRect/>
          </a:stretch>
        </p:blipFill>
        <p:spPr>
          <a:xfrm>
            <a:off x="793790" y="5323165"/>
            <a:ext cx="6407944" cy="30480"/>
          </a:xfrm>
          <a:prstGeom prst="rect">
            <a:avLst/>
          </a:prstGeom>
        </p:spPr>
      </p:pic>
      <p:sp>
        <p:nvSpPr>
          <p:cNvPr id="17" name="Text 11"/>
          <p:cNvSpPr/>
          <p:nvPr/>
        </p:nvSpPr>
        <p:spPr>
          <a:xfrm>
            <a:off x="793790" y="5520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Prototype</a:t>
            </a:r>
            <a:endParaRPr lang="en-US" sz="2200" dirty="0"/>
          </a:p>
        </p:txBody>
      </p:sp>
      <p:sp>
        <p:nvSpPr>
          <p:cNvPr id="18" name="Text 12"/>
          <p:cNvSpPr/>
          <p:nvPr/>
        </p:nvSpPr>
        <p:spPr>
          <a:xfrm>
            <a:off x="793790" y="6010632"/>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Build tangible sample solutions for testing</a:t>
            </a:r>
            <a:endParaRPr lang="en-US" sz="1750" dirty="0"/>
          </a:p>
        </p:txBody>
      </p:sp>
      <p:sp>
        <p:nvSpPr>
          <p:cNvPr id="19" name="Text 13"/>
          <p:cNvSpPr/>
          <p:nvPr/>
        </p:nvSpPr>
        <p:spPr>
          <a:xfrm>
            <a:off x="7428548" y="49908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Prata Light" pitchFamily="34" charset="0"/>
                <a:ea typeface="Prata Light" pitchFamily="34" charset="-122"/>
                <a:cs typeface="Prata Light" pitchFamily="34" charset="-120"/>
              </a:rPr>
              <a:t>05</a:t>
            </a:r>
            <a:endParaRPr lang="en-US" sz="1750" dirty="0"/>
          </a:p>
        </p:txBody>
      </p:sp>
      <p:pic>
        <p:nvPicPr>
          <p:cNvPr id="20" name="Image 4" descr="preencoded.png"/>
          <p:cNvPicPr>
            <a:picLocks noChangeAspect="1"/>
          </p:cNvPicPr>
          <p:nvPr/>
        </p:nvPicPr>
        <p:blipFill>
          <a:blip r:embed="rId4"/>
          <a:stretch>
            <a:fillRect/>
          </a:stretch>
        </p:blipFill>
        <p:spPr>
          <a:xfrm>
            <a:off x="7428548" y="5323165"/>
            <a:ext cx="6407944" cy="30480"/>
          </a:xfrm>
          <a:prstGeom prst="rect">
            <a:avLst/>
          </a:prstGeom>
        </p:spPr>
      </p:pic>
      <p:sp>
        <p:nvSpPr>
          <p:cNvPr id="21" name="Text 14"/>
          <p:cNvSpPr/>
          <p:nvPr/>
        </p:nvSpPr>
        <p:spPr>
          <a:xfrm>
            <a:off x="7428548" y="5520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Test</a:t>
            </a:r>
            <a:endParaRPr lang="en-US" sz="2200" dirty="0"/>
          </a:p>
        </p:txBody>
      </p:sp>
      <p:sp>
        <p:nvSpPr>
          <p:cNvPr id="22" name="Text 15"/>
          <p:cNvSpPr/>
          <p:nvPr/>
        </p:nvSpPr>
        <p:spPr>
          <a:xfrm>
            <a:off x="7428548" y="6010632"/>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Evaluate solutions with users and refine the approach</a:t>
            </a:r>
            <a:endParaRPr lang="en-US" sz="1750" dirty="0"/>
          </a:p>
        </p:txBody>
      </p:sp>
      <p:sp>
        <p:nvSpPr>
          <p:cNvPr id="23" name="Rectangle 22">
            <a:extLst>
              <a:ext uri="{FF2B5EF4-FFF2-40B4-BE49-F238E27FC236}">
                <a16:creationId xmlns:a16="http://schemas.microsoft.com/office/drawing/2014/main" id="{31C32BA1-8599-938A-DB77-17C74DCBAD2B}"/>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30141"/>
            <a:ext cx="6334839"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Objective of This Study</a:t>
            </a:r>
            <a:endParaRPr lang="en-US" sz="4450" dirty="0"/>
          </a:p>
        </p:txBody>
      </p:sp>
      <p:sp>
        <p:nvSpPr>
          <p:cNvPr id="4" name="Shape 1"/>
          <p:cNvSpPr/>
          <p:nvPr/>
        </p:nvSpPr>
        <p:spPr>
          <a:xfrm>
            <a:off x="793790" y="2179082"/>
            <a:ext cx="7556421" cy="1730812"/>
          </a:xfrm>
          <a:prstGeom prst="roundRect">
            <a:avLst>
              <a:gd name="adj" fmla="val 8453"/>
            </a:avLst>
          </a:prstGeom>
          <a:solidFill>
            <a:srgbClr val="1B1C1D"/>
          </a:solidFill>
          <a:ln w="30480">
            <a:solidFill>
              <a:srgbClr val="535455"/>
            </a:solidFill>
            <a:prstDash val="solid"/>
          </a:ln>
        </p:spPr>
        <p:txBody>
          <a:bodyPr/>
          <a:lstStyle/>
          <a:p>
            <a:endParaRPr lang="en-IN"/>
          </a:p>
        </p:txBody>
      </p:sp>
      <p:pic>
        <p:nvPicPr>
          <p:cNvPr id="5" name="Image 1" descr="preencoded.png"/>
          <p:cNvPicPr>
            <a:picLocks noChangeAspect="1"/>
          </p:cNvPicPr>
          <p:nvPr/>
        </p:nvPicPr>
        <p:blipFill>
          <a:blip r:embed="rId4"/>
          <a:stretch>
            <a:fillRect/>
          </a:stretch>
        </p:blipFill>
        <p:spPr>
          <a:xfrm>
            <a:off x="763310" y="2179082"/>
            <a:ext cx="121920" cy="1730812"/>
          </a:xfrm>
          <a:prstGeom prst="rect">
            <a:avLst/>
          </a:prstGeom>
        </p:spPr>
      </p:pic>
      <p:sp>
        <p:nvSpPr>
          <p:cNvPr id="6" name="Text 2"/>
          <p:cNvSpPr/>
          <p:nvPr/>
        </p:nvSpPr>
        <p:spPr>
          <a:xfrm>
            <a:off x="1142524" y="2436376"/>
            <a:ext cx="3163848"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Understand Innovation</a:t>
            </a:r>
            <a:endParaRPr lang="en-US" sz="2200" dirty="0"/>
          </a:p>
        </p:txBody>
      </p:sp>
      <p:sp>
        <p:nvSpPr>
          <p:cNvPr id="7" name="Text 3"/>
          <p:cNvSpPr/>
          <p:nvPr/>
        </p:nvSpPr>
        <p:spPr>
          <a:xfrm>
            <a:off x="1142524" y="2926794"/>
            <a:ext cx="6950393"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Explore how design thinking drives innovation across different industries</a:t>
            </a:r>
            <a:endParaRPr lang="en-US" sz="1750" dirty="0"/>
          </a:p>
        </p:txBody>
      </p:sp>
      <p:sp>
        <p:nvSpPr>
          <p:cNvPr id="8" name="Shape 4"/>
          <p:cNvSpPr/>
          <p:nvPr/>
        </p:nvSpPr>
        <p:spPr>
          <a:xfrm>
            <a:off x="793790" y="4136708"/>
            <a:ext cx="7556421" cy="1367909"/>
          </a:xfrm>
          <a:prstGeom prst="roundRect">
            <a:avLst>
              <a:gd name="adj" fmla="val 10695"/>
            </a:avLst>
          </a:prstGeom>
          <a:solidFill>
            <a:srgbClr val="1B1C1D"/>
          </a:solidFill>
          <a:ln w="30480">
            <a:solidFill>
              <a:srgbClr val="535455"/>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763310" y="4136708"/>
            <a:ext cx="121920" cy="1367909"/>
          </a:xfrm>
          <a:prstGeom prst="rect">
            <a:avLst/>
          </a:prstGeom>
        </p:spPr>
      </p:pic>
      <p:sp>
        <p:nvSpPr>
          <p:cNvPr id="10" name="Text 5"/>
          <p:cNvSpPr/>
          <p:nvPr/>
        </p:nvSpPr>
        <p:spPr>
          <a:xfrm>
            <a:off x="1142524" y="4394002"/>
            <a:ext cx="2901791"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Analyze Case Studies</a:t>
            </a:r>
            <a:endParaRPr lang="en-US" sz="2200" dirty="0"/>
          </a:p>
        </p:txBody>
      </p:sp>
      <p:sp>
        <p:nvSpPr>
          <p:cNvPr id="11" name="Text 6"/>
          <p:cNvSpPr/>
          <p:nvPr/>
        </p:nvSpPr>
        <p:spPr>
          <a:xfrm>
            <a:off x="1142524" y="4884420"/>
            <a:ext cx="6950393"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Examine real-world examples from leading companies</a:t>
            </a:r>
            <a:endParaRPr lang="en-US" sz="1750" dirty="0"/>
          </a:p>
        </p:txBody>
      </p:sp>
      <p:sp>
        <p:nvSpPr>
          <p:cNvPr id="12" name="Shape 7"/>
          <p:cNvSpPr/>
          <p:nvPr/>
        </p:nvSpPr>
        <p:spPr>
          <a:xfrm>
            <a:off x="793790" y="5731431"/>
            <a:ext cx="7556421" cy="1367909"/>
          </a:xfrm>
          <a:prstGeom prst="roundRect">
            <a:avLst>
              <a:gd name="adj" fmla="val 10695"/>
            </a:avLst>
          </a:prstGeom>
          <a:solidFill>
            <a:srgbClr val="1B1C1D"/>
          </a:solidFill>
          <a:ln w="30480">
            <a:solidFill>
              <a:srgbClr val="535455"/>
            </a:solidFill>
            <a:prstDash val="solid"/>
          </a:ln>
        </p:spPr>
        <p:txBody>
          <a:bodyPr/>
          <a:lstStyle/>
          <a:p>
            <a:endParaRPr lang="en-IN"/>
          </a:p>
        </p:txBody>
      </p:sp>
      <p:pic>
        <p:nvPicPr>
          <p:cNvPr id="13" name="Image 3" descr="preencoded.png"/>
          <p:cNvPicPr>
            <a:picLocks noChangeAspect="1"/>
          </p:cNvPicPr>
          <p:nvPr/>
        </p:nvPicPr>
        <p:blipFill>
          <a:blip r:embed="rId5"/>
          <a:stretch>
            <a:fillRect/>
          </a:stretch>
        </p:blipFill>
        <p:spPr>
          <a:xfrm>
            <a:off x="763310" y="5731431"/>
            <a:ext cx="121920" cy="1367909"/>
          </a:xfrm>
          <a:prstGeom prst="rect">
            <a:avLst/>
          </a:prstGeom>
        </p:spPr>
      </p:pic>
      <p:sp>
        <p:nvSpPr>
          <p:cNvPr id="14" name="Text 8"/>
          <p:cNvSpPr/>
          <p:nvPr/>
        </p:nvSpPr>
        <p:spPr>
          <a:xfrm>
            <a:off x="1142524" y="59887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Learn Best Practices</a:t>
            </a:r>
            <a:endParaRPr lang="en-US" sz="2200" dirty="0"/>
          </a:p>
        </p:txBody>
      </p:sp>
      <p:sp>
        <p:nvSpPr>
          <p:cNvPr id="15" name="Text 9"/>
          <p:cNvSpPr/>
          <p:nvPr/>
        </p:nvSpPr>
        <p:spPr>
          <a:xfrm>
            <a:off x="1142524" y="6479143"/>
            <a:ext cx="6950393"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Extract actionable insights that can be applied to future projects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0081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Case Study 1: Nike</a:t>
            </a:r>
            <a:endParaRPr lang="en-US" sz="4450" dirty="0"/>
          </a:p>
        </p:txBody>
      </p:sp>
      <p:sp>
        <p:nvSpPr>
          <p:cNvPr id="3" name="Text 1"/>
          <p:cNvSpPr/>
          <p:nvPr/>
        </p:nvSpPr>
        <p:spPr>
          <a:xfrm>
            <a:off x="793790" y="1600319"/>
            <a:ext cx="6005513"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Transforming Footwear Through Innovation</a:t>
            </a:r>
            <a:endParaRPr lang="en-US" sz="2200" dirty="0"/>
          </a:p>
        </p:txBody>
      </p:sp>
      <p:pic>
        <p:nvPicPr>
          <p:cNvPr id="4" name="Image 0" descr="preencoded.png"/>
          <p:cNvPicPr>
            <a:picLocks noChangeAspect="1"/>
          </p:cNvPicPr>
          <p:nvPr/>
        </p:nvPicPr>
        <p:blipFill>
          <a:blip r:embed="rId3"/>
          <a:stretch>
            <a:fillRect/>
          </a:stretch>
        </p:blipFill>
        <p:spPr>
          <a:xfrm>
            <a:off x="793790" y="2549962"/>
            <a:ext cx="8284131" cy="4623673"/>
          </a:xfrm>
          <a:prstGeom prst="rect">
            <a:avLst/>
          </a:prstGeom>
        </p:spPr>
      </p:pic>
      <p:sp>
        <p:nvSpPr>
          <p:cNvPr id="5" name="Text 2"/>
          <p:cNvSpPr/>
          <p:nvPr/>
        </p:nvSpPr>
        <p:spPr>
          <a:xfrm>
            <a:off x="9638943" y="2908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The Challenge</a:t>
            </a:r>
            <a:endParaRPr lang="en-US" sz="2200" dirty="0"/>
          </a:p>
        </p:txBody>
      </p:sp>
      <p:sp>
        <p:nvSpPr>
          <p:cNvPr id="6" name="Text 3"/>
          <p:cNvSpPr/>
          <p:nvPr/>
        </p:nvSpPr>
        <p:spPr>
          <a:xfrm>
            <a:off x="9638943" y="3489603"/>
            <a:ext cx="4205168"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Traditional shoes used a </a:t>
            </a:r>
            <a:r>
              <a:rPr lang="en-US" sz="1750" dirty="0">
                <a:solidFill>
                  <a:srgbClr val="EEE27D"/>
                </a:solidFill>
                <a:latin typeface="Raleway" pitchFamily="34" charset="0"/>
                <a:ea typeface="Raleway" pitchFamily="34" charset="-122"/>
                <a:cs typeface="Raleway" pitchFamily="34" charset="-120"/>
              </a:rPr>
              <a:t>cut and sew method</a:t>
            </a:r>
            <a:r>
              <a:rPr lang="en-US" sz="1750" dirty="0">
                <a:solidFill>
                  <a:srgbClr val="CFCBBF"/>
                </a:solidFill>
                <a:latin typeface="Raleway" pitchFamily="34" charset="0"/>
                <a:ea typeface="Raleway" pitchFamily="34" charset="-122"/>
                <a:cs typeface="Raleway" pitchFamily="34" charset="-120"/>
              </a:rPr>
              <a:t> that created heavy footwear with excessive material waste and discomfort for athletes.</a:t>
            </a:r>
            <a:endParaRPr lang="en-US" sz="1750" dirty="0"/>
          </a:p>
        </p:txBody>
      </p:sp>
      <p:sp>
        <p:nvSpPr>
          <p:cNvPr id="7" name="Text 4"/>
          <p:cNvSpPr/>
          <p:nvPr/>
        </p:nvSpPr>
        <p:spPr>
          <a:xfrm>
            <a:off x="9638943" y="516802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The Goal</a:t>
            </a:r>
            <a:endParaRPr lang="en-US" sz="2200" dirty="0"/>
          </a:p>
        </p:txBody>
      </p:sp>
      <p:sp>
        <p:nvSpPr>
          <p:cNvPr id="8" name="Text 5"/>
          <p:cNvSpPr/>
          <p:nvPr/>
        </p:nvSpPr>
        <p:spPr>
          <a:xfrm>
            <a:off x="9638943" y="5749171"/>
            <a:ext cx="4205168"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Create a shoe that feels like </a:t>
            </a:r>
            <a:r>
              <a:rPr lang="en-US" sz="1750" dirty="0">
                <a:solidFill>
                  <a:srgbClr val="EEE27D"/>
                </a:solidFill>
                <a:latin typeface="Raleway" pitchFamily="34" charset="0"/>
                <a:ea typeface="Raleway" pitchFamily="34" charset="-122"/>
                <a:cs typeface="Raleway" pitchFamily="34" charset="-120"/>
              </a:rPr>
              <a:t>"second skin"</a:t>
            </a:r>
            <a:r>
              <a:rPr lang="en-US" sz="1750" dirty="0">
                <a:solidFill>
                  <a:srgbClr val="CFCBBF"/>
                </a:solidFill>
                <a:latin typeface="Raleway" pitchFamily="34" charset="0"/>
                <a:ea typeface="Raleway" pitchFamily="34" charset="-122"/>
                <a:cs typeface="Raleway" pitchFamily="34" charset="-120"/>
              </a:rPr>
              <a:t> — lightweight, form-fitting, and high-performing.</a:t>
            </a:r>
            <a:endParaRPr lang="en-US" sz="1750" dirty="0"/>
          </a:p>
        </p:txBody>
      </p:sp>
      <p:sp>
        <p:nvSpPr>
          <p:cNvPr id="9" name="Rectangle 8">
            <a:extLst>
              <a:ext uri="{FF2B5EF4-FFF2-40B4-BE49-F238E27FC236}">
                <a16:creationId xmlns:a16="http://schemas.microsoft.com/office/drawing/2014/main" id="{1137FB30-530B-1B85-884B-DBE2B2F3741D}"/>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93363"/>
            <a:ext cx="6857048"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Nike's Flyknit Technology</a:t>
            </a:r>
            <a:endParaRPr lang="en-US" sz="4450" dirty="0"/>
          </a:p>
        </p:txBody>
      </p:sp>
      <p:sp>
        <p:nvSpPr>
          <p:cNvPr id="4" name="Text 1"/>
          <p:cNvSpPr/>
          <p:nvPr/>
        </p:nvSpPr>
        <p:spPr>
          <a:xfrm>
            <a:off x="793790" y="2355652"/>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CFCBBF"/>
                </a:solidFill>
                <a:latin typeface="Prata" pitchFamily="34" charset="0"/>
                <a:ea typeface="Prata" pitchFamily="34" charset="-122"/>
                <a:cs typeface="Prata" pitchFamily="34" charset="-120"/>
              </a:rPr>
              <a:t>60%</a:t>
            </a:r>
            <a:endParaRPr lang="en-US" sz="5850" dirty="0"/>
          </a:p>
        </p:txBody>
      </p:sp>
      <p:sp>
        <p:nvSpPr>
          <p:cNvPr id="5" name="Text 2"/>
          <p:cNvSpPr/>
          <p:nvPr/>
        </p:nvSpPr>
        <p:spPr>
          <a:xfrm>
            <a:off x="793790" y="3387447"/>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CFCBBF"/>
                </a:solidFill>
                <a:latin typeface="Prata" pitchFamily="34" charset="0"/>
                <a:ea typeface="Prata" pitchFamily="34" charset="-122"/>
                <a:cs typeface="Prata" pitchFamily="34" charset="-120"/>
              </a:rPr>
              <a:t>Less Waste</a:t>
            </a:r>
            <a:endParaRPr lang="en-US" sz="2200" dirty="0"/>
          </a:p>
        </p:txBody>
      </p:sp>
      <p:sp>
        <p:nvSpPr>
          <p:cNvPr id="6" name="Text 3"/>
          <p:cNvSpPr/>
          <p:nvPr/>
        </p:nvSpPr>
        <p:spPr>
          <a:xfrm>
            <a:off x="793790" y="3877866"/>
            <a:ext cx="2329815" cy="1814513"/>
          </a:xfrm>
          <a:prstGeom prst="rect">
            <a:avLst/>
          </a:prstGeom>
          <a:noFill/>
          <a:ln/>
        </p:spPr>
        <p:txBody>
          <a:bodyPr wrap="square" lIns="0" tIns="0" rIns="0" bIns="0" rtlCol="0" anchor="t"/>
          <a:lstStyle/>
          <a:p>
            <a:pPr marL="0" indent="0" algn="ctr">
              <a:lnSpc>
                <a:spcPts val="2850"/>
              </a:lnSpc>
              <a:buNone/>
            </a:pPr>
            <a:r>
              <a:rPr lang="en-US" sz="1750" dirty="0">
                <a:solidFill>
                  <a:srgbClr val="CFCBBF"/>
                </a:solidFill>
                <a:latin typeface="Raleway" pitchFamily="34" charset="0"/>
                <a:ea typeface="Raleway" pitchFamily="34" charset="-122"/>
                <a:cs typeface="Raleway" pitchFamily="34" charset="-120"/>
              </a:rPr>
              <a:t>Significantly reduced material waste compared to traditional manufacturing</a:t>
            </a:r>
            <a:endParaRPr lang="en-US" sz="1750" dirty="0"/>
          </a:p>
        </p:txBody>
      </p:sp>
      <p:sp>
        <p:nvSpPr>
          <p:cNvPr id="7" name="Text 4"/>
          <p:cNvSpPr/>
          <p:nvPr/>
        </p:nvSpPr>
        <p:spPr>
          <a:xfrm>
            <a:off x="3407093" y="2355652"/>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CFCBBF"/>
                </a:solidFill>
                <a:latin typeface="Prata" pitchFamily="34" charset="0"/>
                <a:ea typeface="Prata" pitchFamily="34" charset="-122"/>
                <a:cs typeface="Prata" pitchFamily="34" charset="-120"/>
              </a:rPr>
              <a:t>40%</a:t>
            </a:r>
            <a:endParaRPr lang="en-US" sz="5850" dirty="0"/>
          </a:p>
        </p:txBody>
      </p:sp>
      <p:sp>
        <p:nvSpPr>
          <p:cNvPr id="8" name="Text 5"/>
          <p:cNvSpPr/>
          <p:nvPr/>
        </p:nvSpPr>
        <p:spPr>
          <a:xfrm>
            <a:off x="3407093" y="3387447"/>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CFCBBF"/>
                </a:solidFill>
                <a:latin typeface="Prata" pitchFamily="34" charset="0"/>
                <a:ea typeface="Prata" pitchFamily="34" charset="-122"/>
                <a:cs typeface="Prata" pitchFamily="34" charset="-120"/>
              </a:rPr>
              <a:t>Lighter Weight</a:t>
            </a:r>
            <a:endParaRPr lang="en-US" sz="2200" dirty="0"/>
          </a:p>
        </p:txBody>
      </p:sp>
      <p:sp>
        <p:nvSpPr>
          <p:cNvPr id="9" name="Text 6"/>
          <p:cNvSpPr/>
          <p:nvPr/>
        </p:nvSpPr>
        <p:spPr>
          <a:xfrm>
            <a:off x="3407093" y="3877866"/>
            <a:ext cx="2329815" cy="1451610"/>
          </a:xfrm>
          <a:prstGeom prst="rect">
            <a:avLst/>
          </a:prstGeom>
          <a:noFill/>
          <a:ln/>
        </p:spPr>
        <p:txBody>
          <a:bodyPr wrap="square" lIns="0" tIns="0" rIns="0" bIns="0" rtlCol="0" anchor="t"/>
          <a:lstStyle/>
          <a:p>
            <a:pPr marL="0" indent="0" algn="ctr">
              <a:lnSpc>
                <a:spcPts val="2850"/>
              </a:lnSpc>
              <a:buNone/>
            </a:pPr>
            <a:r>
              <a:rPr lang="en-US" sz="1750" dirty="0">
                <a:solidFill>
                  <a:srgbClr val="CFCBBF"/>
                </a:solidFill>
                <a:latin typeface="Raleway" pitchFamily="34" charset="0"/>
                <a:ea typeface="Raleway" pitchFamily="34" charset="-122"/>
                <a:cs typeface="Raleway" pitchFamily="34" charset="-120"/>
              </a:rPr>
              <a:t>Dramatic weight reduction for enhanced athletic performance</a:t>
            </a:r>
            <a:endParaRPr lang="en-US" sz="1750" dirty="0"/>
          </a:p>
        </p:txBody>
      </p:sp>
      <p:sp>
        <p:nvSpPr>
          <p:cNvPr id="10" name="Text 7"/>
          <p:cNvSpPr/>
          <p:nvPr/>
        </p:nvSpPr>
        <p:spPr>
          <a:xfrm>
            <a:off x="6020395" y="2355652"/>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CFCBBF"/>
                </a:solidFill>
                <a:latin typeface="Prata" pitchFamily="34" charset="0"/>
                <a:ea typeface="Prata" pitchFamily="34" charset="-122"/>
                <a:cs typeface="Prata" pitchFamily="34" charset="-120"/>
              </a:rPr>
              <a:t>100%</a:t>
            </a:r>
            <a:endParaRPr lang="en-US" sz="5850" dirty="0"/>
          </a:p>
        </p:txBody>
      </p:sp>
      <p:sp>
        <p:nvSpPr>
          <p:cNvPr id="11" name="Text 8"/>
          <p:cNvSpPr/>
          <p:nvPr/>
        </p:nvSpPr>
        <p:spPr>
          <a:xfrm>
            <a:off x="6020395" y="3387447"/>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CFCBBF"/>
                </a:solidFill>
                <a:latin typeface="Prata" pitchFamily="34" charset="0"/>
                <a:ea typeface="Prata" pitchFamily="34" charset="-122"/>
                <a:cs typeface="Prata" pitchFamily="34" charset="-120"/>
              </a:rPr>
              <a:t>Custom Fit</a:t>
            </a:r>
            <a:endParaRPr lang="en-US" sz="2200" dirty="0"/>
          </a:p>
        </p:txBody>
      </p:sp>
      <p:sp>
        <p:nvSpPr>
          <p:cNvPr id="12" name="Text 9"/>
          <p:cNvSpPr/>
          <p:nvPr/>
        </p:nvSpPr>
        <p:spPr>
          <a:xfrm>
            <a:off x="6020395" y="3877866"/>
            <a:ext cx="2329815" cy="1451610"/>
          </a:xfrm>
          <a:prstGeom prst="rect">
            <a:avLst/>
          </a:prstGeom>
          <a:noFill/>
          <a:ln/>
        </p:spPr>
        <p:txBody>
          <a:bodyPr wrap="square" lIns="0" tIns="0" rIns="0" bIns="0" rtlCol="0" anchor="t"/>
          <a:lstStyle/>
          <a:p>
            <a:pPr marL="0" indent="0" algn="ctr">
              <a:lnSpc>
                <a:spcPts val="2850"/>
              </a:lnSpc>
              <a:buNone/>
            </a:pPr>
            <a:r>
              <a:rPr lang="en-US" sz="1750" dirty="0">
                <a:solidFill>
                  <a:srgbClr val="CFCBBF"/>
                </a:solidFill>
                <a:latin typeface="Raleway" pitchFamily="34" charset="0"/>
                <a:ea typeface="Raleway" pitchFamily="34" charset="-122"/>
                <a:cs typeface="Raleway" pitchFamily="34" charset="-120"/>
              </a:rPr>
              <a:t>Engineered to conform precisely to the athlete's foot shape</a:t>
            </a:r>
            <a:endParaRPr lang="en-US" sz="1750" dirty="0"/>
          </a:p>
        </p:txBody>
      </p:sp>
      <p:sp>
        <p:nvSpPr>
          <p:cNvPr id="13" name="Text 10"/>
          <p:cNvSpPr/>
          <p:nvPr/>
        </p:nvSpPr>
        <p:spPr>
          <a:xfrm>
            <a:off x="793790" y="5947529"/>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Nike Flyknit revolutionized athletic footwear by weaving the upper from a single thread, creating shoes that are lighter, more sustainable, and better performing.</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49511" y="522565"/>
            <a:ext cx="4738807" cy="585549"/>
          </a:xfrm>
          <a:prstGeom prst="rect">
            <a:avLst/>
          </a:prstGeom>
          <a:noFill/>
          <a:ln/>
        </p:spPr>
        <p:txBody>
          <a:bodyPr wrap="none" lIns="0" tIns="0" rIns="0" bIns="0" rtlCol="0" anchor="t"/>
          <a:lstStyle/>
          <a:p>
            <a:pPr marL="0" indent="0" algn="l">
              <a:lnSpc>
                <a:spcPts val="4600"/>
              </a:lnSpc>
              <a:buNone/>
            </a:pPr>
            <a:r>
              <a:rPr lang="en-US" sz="3650" dirty="0">
                <a:solidFill>
                  <a:srgbClr val="F2E782"/>
                </a:solidFill>
                <a:latin typeface="Prata" pitchFamily="34" charset="0"/>
                <a:ea typeface="Prata" pitchFamily="34" charset="-122"/>
                <a:cs typeface="Prata" pitchFamily="34" charset="-120"/>
              </a:rPr>
              <a:t>Case Study 2: Airbnb</a:t>
            </a:r>
            <a:endParaRPr lang="en-US" sz="3650" dirty="0"/>
          </a:p>
        </p:txBody>
      </p:sp>
      <p:sp>
        <p:nvSpPr>
          <p:cNvPr id="3" name="Text 1"/>
          <p:cNvSpPr/>
          <p:nvPr/>
        </p:nvSpPr>
        <p:spPr>
          <a:xfrm>
            <a:off x="849511" y="1170027"/>
            <a:ext cx="4081820" cy="292894"/>
          </a:xfrm>
          <a:prstGeom prst="rect">
            <a:avLst/>
          </a:prstGeom>
          <a:noFill/>
          <a:ln/>
        </p:spPr>
        <p:txBody>
          <a:bodyPr wrap="none" lIns="0" tIns="0" rIns="0" bIns="0" rtlCol="0" anchor="t"/>
          <a:lstStyle/>
          <a:p>
            <a:pPr marL="0" indent="0" algn="l">
              <a:lnSpc>
                <a:spcPts val="2300"/>
              </a:lnSpc>
              <a:buNone/>
            </a:pPr>
            <a:r>
              <a:rPr lang="en-US" sz="1800" dirty="0">
                <a:solidFill>
                  <a:srgbClr val="F2E782"/>
                </a:solidFill>
                <a:latin typeface="Prata" pitchFamily="34" charset="0"/>
                <a:ea typeface="Prata" pitchFamily="34" charset="-122"/>
                <a:cs typeface="Prata" pitchFamily="34" charset="-120"/>
              </a:rPr>
              <a:t>From $200/Week to Global Success</a:t>
            </a:r>
            <a:endParaRPr lang="en-US" sz="1800" dirty="0"/>
          </a:p>
        </p:txBody>
      </p:sp>
      <p:sp>
        <p:nvSpPr>
          <p:cNvPr id="4" name="Text 2"/>
          <p:cNvSpPr/>
          <p:nvPr/>
        </p:nvSpPr>
        <p:spPr>
          <a:xfrm>
            <a:off x="849511" y="3281243"/>
            <a:ext cx="2342555" cy="292894"/>
          </a:xfrm>
          <a:prstGeom prst="rect">
            <a:avLst/>
          </a:prstGeom>
          <a:noFill/>
          <a:ln/>
        </p:spPr>
        <p:txBody>
          <a:bodyPr wrap="none" lIns="0" tIns="0" rIns="0" bIns="0" rtlCol="0" anchor="t"/>
          <a:lstStyle/>
          <a:p>
            <a:pPr marL="0" indent="0" algn="l">
              <a:lnSpc>
                <a:spcPts val="2300"/>
              </a:lnSpc>
              <a:buNone/>
            </a:pPr>
            <a:r>
              <a:rPr lang="en-US" sz="1800" dirty="0">
                <a:solidFill>
                  <a:srgbClr val="F2E782"/>
                </a:solidFill>
                <a:latin typeface="Prata" pitchFamily="34" charset="0"/>
                <a:ea typeface="Prata" pitchFamily="34" charset="-122"/>
                <a:cs typeface="Prata" pitchFamily="34" charset="-120"/>
              </a:rPr>
              <a:t>The Crisis (2009)</a:t>
            </a:r>
            <a:endParaRPr lang="en-US" sz="1800" dirty="0"/>
          </a:p>
        </p:txBody>
      </p:sp>
      <p:sp>
        <p:nvSpPr>
          <p:cNvPr id="5" name="Text 3"/>
          <p:cNvSpPr/>
          <p:nvPr/>
        </p:nvSpPr>
        <p:spPr>
          <a:xfrm>
            <a:off x="849511" y="3728918"/>
            <a:ext cx="8245316" cy="1257419"/>
          </a:xfrm>
          <a:prstGeom prst="rect">
            <a:avLst/>
          </a:prstGeom>
          <a:noFill/>
          <a:ln/>
        </p:spPr>
        <p:txBody>
          <a:bodyPr wrap="square" lIns="0" tIns="0" rIns="0" bIns="0" rtlCol="0" anchor="t"/>
          <a:lstStyle/>
          <a:p>
            <a:pPr marL="342900" indent="-342900" algn="l">
              <a:lnSpc>
                <a:spcPts val="2150"/>
              </a:lnSpc>
              <a:buSzPct val="100000"/>
              <a:buChar char="•"/>
            </a:pPr>
            <a:r>
              <a:rPr lang="en-US" sz="1450" dirty="0">
                <a:solidFill>
                  <a:srgbClr val="CFCBBF"/>
                </a:solidFill>
                <a:latin typeface="Raleway" pitchFamily="34" charset="0"/>
                <a:ea typeface="Raleway" pitchFamily="34" charset="-122"/>
                <a:cs typeface="Raleway" pitchFamily="34" charset="-120"/>
              </a:rPr>
              <a:t>Extremely low bookings</a:t>
            </a:r>
            <a:endParaRPr lang="en-US" sz="1450" dirty="0"/>
          </a:p>
          <a:p>
            <a:pPr marL="342900" indent="-342900" algn="l">
              <a:lnSpc>
                <a:spcPts val="2150"/>
              </a:lnSpc>
              <a:buSzPct val="100000"/>
              <a:buChar char="•"/>
            </a:pPr>
            <a:r>
              <a:rPr lang="en-US" sz="1450" dirty="0">
                <a:solidFill>
                  <a:srgbClr val="CFCBBF"/>
                </a:solidFill>
                <a:latin typeface="Raleway" pitchFamily="34" charset="0"/>
                <a:ea typeface="Raleway" pitchFamily="34" charset="-122"/>
                <a:cs typeface="Raleway" pitchFamily="34" charset="-120"/>
              </a:rPr>
              <a:t>Revenue of only </a:t>
            </a:r>
            <a:r>
              <a:rPr lang="en-US" sz="1450" dirty="0">
                <a:solidFill>
                  <a:srgbClr val="EEE27D"/>
                </a:solidFill>
                <a:latin typeface="Raleway" pitchFamily="34" charset="0"/>
                <a:ea typeface="Raleway" pitchFamily="34" charset="-122"/>
                <a:cs typeface="Raleway" pitchFamily="34" charset="-120"/>
              </a:rPr>
              <a:t>$200 per week</a:t>
            </a:r>
            <a:endParaRPr lang="en-US" sz="1450" dirty="0"/>
          </a:p>
          <a:p>
            <a:pPr marL="342900" indent="-342900" algn="l">
              <a:lnSpc>
                <a:spcPts val="2150"/>
              </a:lnSpc>
              <a:buSzPct val="100000"/>
              <a:buChar char="•"/>
            </a:pPr>
            <a:r>
              <a:rPr lang="en-US" sz="1450" dirty="0">
                <a:solidFill>
                  <a:srgbClr val="CFCBBF"/>
                </a:solidFill>
                <a:latin typeface="Raleway" pitchFamily="34" charset="0"/>
                <a:ea typeface="Raleway" pitchFamily="34" charset="-122"/>
                <a:cs typeface="Raleway" pitchFamily="34" charset="-120"/>
              </a:rPr>
              <a:t>Users didn't trust listings</a:t>
            </a:r>
            <a:endParaRPr lang="en-US" sz="1450" dirty="0"/>
          </a:p>
          <a:p>
            <a:pPr marL="342900" indent="-342900" algn="l">
              <a:lnSpc>
                <a:spcPts val="2150"/>
              </a:lnSpc>
              <a:buSzPct val="100000"/>
              <a:buChar char="•"/>
            </a:pPr>
            <a:r>
              <a:rPr lang="en-US" sz="1450" dirty="0">
                <a:solidFill>
                  <a:srgbClr val="CFCBBF"/>
                </a:solidFill>
                <a:latin typeface="Raleway" pitchFamily="34" charset="0"/>
                <a:ea typeface="Raleway" pitchFamily="34" charset="-122"/>
                <a:cs typeface="Raleway" pitchFamily="34" charset="-120"/>
              </a:rPr>
              <a:t>Poor quality photos</a:t>
            </a:r>
            <a:endParaRPr lang="en-US" sz="1450" dirty="0"/>
          </a:p>
        </p:txBody>
      </p:sp>
      <p:sp>
        <p:nvSpPr>
          <p:cNvPr id="6" name="Text 4"/>
          <p:cNvSpPr/>
          <p:nvPr/>
        </p:nvSpPr>
        <p:spPr>
          <a:xfrm>
            <a:off x="849511" y="5141119"/>
            <a:ext cx="2342555" cy="292894"/>
          </a:xfrm>
          <a:prstGeom prst="rect">
            <a:avLst/>
          </a:prstGeom>
          <a:noFill/>
          <a:ln/>
        </p:spPr>
        <p:txBody>
          <a:bodyPr wrap="none" lIns="0" tIns="0" rIns="0" bIns="0" rtlCol="0" anchor="t"/>
          <a:lstStyle/>
          <a:p>
            <a:pPr marL="0" indent="0" algn="l">
              <a:lnSpc>
                <a:spcPts val="2300"/>
              </a:lnSpc>
              <a:buNone/>
            </a:pPr>
            <a:r>
              <a:rPr lang="en-US" sz="1800" dirty="0">
                <a:solidFill>
                  <a:srgbClr val="F2E782"/>
                </a:solidFill>
                <a:latin typeface="Prata" pitchFamily="34" charset="0"/>
                <a:ea typeface="Prata" pitchFamily="34" charset="-122"/>
                <a:cs typeface="Prata" pitchFamily="34" charset="-120"/>
              </a:rPr>
              <a:t>The Insight</a:t>
            </a:r>
            <a:endParaRPr lang="en-US" sz="1800" dirty="0"/>
          </a:p>
        </p:txBody>
      </p:sp>
      <p:sp>
        <p:nvSpPr>
          <p:cNvPr id="7" name="Text 5"/>
          <p:cNvSpPr/>
          <p:nvPr/>
        </p:nvSpPr>
        <p:spPr>
          <a:xfrm>
            <a:off x="849511" y="5588794"/>
            <a:ext cx="8245316" cy="547449"/>
          </a:xfrm>
          <a:prstGeom prst="rect">
            <a:avLst/>
          </a:prstGeom>
          <a:noFill/>
          <a:ln/>
        </p:spPr>
        <p:txBody>
          <a:bodyPr wrap="square" lIns="0" tIns="0" rIns="0" bIns="0" rtlCol="0" anchor="t"/>
          <a:lstStyle/>
          <a:p>
            <a:pPr marL="0" indent="0" algn="l">
              <a:lnSpc>
                <a:spcPts val="2150"/>
              </a:lnSpc>
              <a:buNone/>
            </a:pPr>
            <a:r>
              <a:rPr lang="en-US" sz="1450" dirty="0">
                <a:solidFill>
                  <a:srgbClr val="CFCBBF"/>
                </a:solidFill>
                <a:latin typeface="Raleway" pitchFamily="34" charset="0"/>
                <a:ea typeface="Raleway" pitchFamily="34" charset="-122"/>
                <a:cs typeface="Raleway" pitchFamily="34" charset="-120"/>
              </a:rPr>
              <a:t>Founders discovered that </a:t>
            </a:r>
            <a:r>
              <a:rPr lang="en-US" sz="1450" dirty="0">
                <a:solidFill>
                  <a:srgbClr val="EEE27D"/>
                </a:solidFill>
                <a:latin typeface="Raleway" pitchFamily="34" charset="0"/>
                <a:ea typeface="Raleway" pitchFamily="34" charset="-122"/>
                <a:cs typeface="Raleway" pitchFamily="34" charset="-120"/>
              </a:rPr>
              <a:t>bad photography</a:t>
            </a:r>
            <a:r>
              <a:rPr lang="en-US" sz="1450" dirty="0">
                <a:solidFill>
                  <a:srgbClr val="CFCBBF"/>
                </a:solidFill>
                <a:latin typeface="Raleway" pitchFamily="34" charset="0"/>
                <a:ea typeface="Raleway" pitchFamily="34" charset="-122"/>
                <a:cs typeface="Raleway" pitchFamily="34" charset="-120"/>
              </a:rPr>
              <a:t> was preventing bookings — users couldn't visualize themselves staying in the spaces.</a:t>
            </a:r>
            <a:endParaRPr lang="en-US" sz="1450" dirty="0"/>
          </a:p>
        </p:txBody>
      </p:sp>
      <p:pic>
        <p:nvPicPr>
          <p:cNvPr id="8" name="Image 0" descr="preencoded.png"/>
          <p:cNvPicPr>
            <a:picLocks noChangeAspect="1"/>
          </p:cNvPicPr>
          <p:nvPr/>
        </p:nvPicPr>
        <p:blipFill>
          <a:blip r:embed="rId3"/>
          <a:stretch>
            <a:fillRect/>
          </a:stretch>
        </p:blipFill>
        <p:spPr>
          <a:xfrm>
            <a:off x="9559647" y="1869281"/>
            <a:ext cx="4228743" cy="5663446"/>
          </a:xfrm>
          <a:prstGeom prst="rect">
            <a:avLst/>
          </a:prstGeom>
        </p:spPr>
      </p:pic>
      <p:sp>
        <p:nvSpPr>
          <p:cNvPr id="9" name="Rectangle 8">
            <a:extLst>
              <a:ext uri="{FF2B5EF4-FFF2-40B4-BE49-F238E27FC236}">
                <a16:creationId xmlns:a16="http://schemas.microsoft.com/office/drawing/2014/main" id="{6FE0CE3C-2BB3-877C-F61A-11F78920CF66}"/>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6498" y="623768"/>
            <a:ext cx="7583805" cy="1393031"/>
          </a:xfrm>
          <a:prstGeom prst="rect">
            <a:avLst/>
          </a:prstGeom>
          <a:noFill/>
          <a:ln/>
        </p:spPr>
        <p:txBody>
          <a:bodyPr wrap="square" lIns="0" tIns="0" rIns="0" bIns="0" rtlCol="0" anchor="t"/>
          <a:lstStyle/>
          <a:p>
            <a:pPr marL="0" indent="0" algn="l">
              <a:lnSpc>
                <a:spcPts val="5450"/>
              </a:lnSpc>
              <a:buNone/>
            </a:pPr>
            <a:r>
              <a:rPr lang="en-US" sz="4350" dirty="0">
                <a:solidFill>
                  <a:srgbClr val="F2E782"/>
                </a:solidFill>
                <a:latin typeface="Prata" pitchFamily="34" charset="0"/>
                <a:ea typeface="Prata" pitchFamily="34" charset="-122"/>
                <a:cs typeface="Prata" pitchFamily="34" charset="-120"/>
              </a:rPr>
              <a:t>Airbnb's Photography Solution</a:t>
            </a:r>
            <a:endParaRPr lang="en-US" sz="4350" dirty="0"/>
          </a:p>
        </p:txBody>
      </p:sp>
      <p:pic>
        <p:nvPicPr>
          <p:cNvPr id="4" name="Image 1" descr="preencoded.png"/>
          <p:cNvPicPr>
            <a:picLocks noChangeAspect="1"/>
          </p:cNvPicPr>
          <p:nvPr/>
        </p:nvPicPr>
        <p:blipFill>
          <a:blip r:embed="rId4"/>
          <a:stretch>
            <a:fillRect/>
          </a:stretch>
        </p:blipFill>
        <p:spPr>
          <a:xfrm>
            <a:off x="6266498" y="2345293"/>
            <a:ext cx="1114425" cy="1632347"/>
          </a:xfrm>
          <a:prstGeom prst="rect">
            <a:avLst/>
          </a:prstGeom>
        </p:spPr>
      </p:pic>
      <p:sp>
        <p:nvSpPr>
          <p:cNvPr id="5" name="Text 1"/>
          <p:cNvSpPr/>
          <p:nvPr/>
        </p:nvSpPr>
        <p:spPr>
          <a:xfrm>
            <a:off x="7599878" y="2568178"/>
            <a:ext cx="2786301" cy="348258"/>
          </a:xfrm>
          <a:prstGeom prst="rect">
            <a:avLst/>
          </a:prstGeom>
          <a:noFill/>
          <a:ln/>
        </p:spPr>
        <p:txBody>
          <a:bodyPr wrap="none" lIns="0" tIns="0" rIns="0" bIns="0" rtlCol="0" anchor="t"/>
          <a:lstStyle/>
          <a:p>
            <a:pPr marL="0" indent="0" algn="l">
              <a:lnSpc>
                <a:spcPts val="2700"/>
              </a:lnSpc>
              <a:buNone/>
            </a:pPr>
            <a:r>
              <a:rPr lang="en-US" sz="2150" dirty="0">
                <a:solidFill>
                  <a:srgbClr val="CFCBBF"/>
                </a:solidFill>
                <a:latin typeface="Prata" pitchFamily="34" charset="0"/>
                <a:ea typeface="Prata" pitchFamily="34" charset="-122"/>
                <a:cs typeface="Prata" pitchFamily="34" charset="-120"/>
              </a:rPr>
              <a:t>Field Research</a:t>
            </a:r>
            <a:endParaRPr lang="en-US" sz="2150" dirty="0"/>
          </a:p>
        </p:txBody>
      </p:sp>
      <p:sp>
        <p:nvSpPr>
          <p:cNvPr id="6" name="Text 2"/>
          <p:cNvSpPr/>
          <p:nvPr/>
        </p:nvSpPr>
        <p:spPr>
          <a:xfrm>
            <a:off x="7599878" y="3047762"/>
            <a:ext cx="6250424" cy="706993"/>
          </a:xfrm>
          <a:prstGeom prst="rect">
            <a:avLst/>
          </a:prstGeom>
          <a:noFill/>
          <a:ln/>
        </p:spPr>
        <p:txBody>
          <a:bodyPr wrap="square" lIns="0" tIns="0" rIns="0" bIns="0" rtlCol="0" anchor="t"/>
          <a:lstStyle/>
          <a:p>
            <a:pPr marL="0" indent="0" algn="l">
              <a:lnSpc>
                <a:spcPts val="2750"/>
              </a:lnSpc>
              <a:buNone/>
            </a:pPr>
            <a:r>
              <a:rPr lang="en-US" sz="1750" dirty="0">
                <a:solidFill>
                  <a:srgbClr val="CFCBBF"/>
                </a:solidFill>
                <a:latin typeface="Raleway" pitchFamily="34" charset="0"/>
                <a:ea typeface="Raleway" pitchFamily="34" charset="-122"/>
                <a:cs typeface="Raleway" pitchFamily="34" charset="-120"/>
              </a:rPr>
              <a:t>Founders personally visited hosts to understand the problem</a:t>
            </a:r>
            <a:endParaRPr lang="en-US" sz="1750" dirty="0"/>
          </a:p>
        </p:txBody>
      </p:sp>
      <p:pic>
        <p:nvPicPr>
          <p:cNvPr id="7" name="Image 2" descr="preencoded.png"/>
          <p:cNvPicPr>
            <a:picLocks noChangeAspect="1"/>
          </p:cNvPicPr>
          <p:nvPr/>
        </p:nvPicPr>
        <p:blipFill>
          <a:blip r:embed="rId5"/>
          <a:stretch>
            <a:fillRect/>
          </a:stretch>
        </p:blipFill>
        <p:spPr>
          <a:xfrm>
            <a:off x="6266498" y="3977640"/>
            <a:ext cx="1114425" cy="1337429"/>
          </a:xfrm>
          <a:prstGeom prst="rect">
            <a:avLst/>
          </a:prstGeom>
        </p:spPr>
      </p:pic>
      <p:sp>
        <p:nvSpPr>
          <p:cNvPr id="8" name="Text 3"/>
          <p:cNvSpPr/>
          <p:nvPr/>
        </p:nvSpPr>
        <p:spPr>
          <a:xfrm>
            <a:off x="7599878" y="4200525"/>
            <a:ext cx="2786301" cy="348258"/>
          </a:xfrm>
          <a:prstGeom prst="rect">
            <a:avLst/>
          </a:prstGeom>
          <a:noFill/>
          <a:ln/>
        </p:spPr>
        <p:txBody>
          <a:bodyPr wrap="none" lIns="0" tIns="0" rIns="0" bIns="0" rtlCol="0" anchor="t"/>
          <a:lstStyle/>
          <a:p>
            <a:pPr marL="0" indent="0" algn="l">
              <a:lnSpc>
                <a:spcPts val="2700"/>
              </a:lnSpc>
              <a:buNone/>
            </a:pPr>
            <a:r>
              <a:rPr lang="en-US" sz="2150" dirty="0">
                <a:solidFill>
                  <a:srgbClr val="CFCBBF"/>
                </a:solidFill>
                <a:latin typeface="Prata" pitchFamily="34" charset="0"/>
                <a:ea typeface="Prata" pitchFamily="34" charset="-122"/>
                <a:cs typeface="Prata" pitchFamily="34" charset="-120"/>
              </a:rPr>
              <a:t>Professional Photos</a:t>
            </a:r>
            <a:endParaRPr lang="en-US" sz="2150" dirty="0"/>
          </a:p>
        </p:txBody>
      </p:sp>
      <p:sp>
        <p:nvSpPr>
          <p:cNvPr id="9" name="Text 4"/>
          <p:cNvSpPr/>
          <p:nvPr/>
        </p:nvSpPr>
        <p:spPr>
          <a:xfrm>
            <a:off x="7599878" y="4680109"/>
            <a:ext cx="6250424" cy="353497"/>
          </a:xfrm>
          <a:prstGeom prst="rect">
            <a:avLst/>
          </a:prstGeom>
          <a:noFill/>
          <a:ln/>
        </p:spPr>
        <p:txBody>
          <a:bodyPr wrap="none" lIns="0" tIns="0" rIns="0" bIns="0" rtlCol="0" anchor="t"/>
          <a:lstStyle/>
          <a:p>
            <a:pPr marL="0" indent="0" algn="l">
              <a:lnSpc>
                <a:spcPts val="2750"/>
              </a:lnSpc>
              <a:buNone/>
            </a:pPr>
            <a:r>
              <a:rPr lang="en-US" sz="1750" dirty="0">
                <a:solidFill>
                  <a:srgbClr val="CFCBBF"/>
                </a:solidFill>
                <a:latin typeface="Raleway" pitchFamily="34" charset="0"/>
                <a:ea typeface="Raleway" pitchFamily="34" charset="-122"/>
                <a:cs typeface="Raleway" pitchFamily="34" charset="-120"/>
              </a:rPr>
              <a:t>Took high-quality photos that showcased the best features</a:t>
            </a:r>
            <a:endParaRPr lang="en-US" sz="1750" dirty="0"/>
          </a:p>
        </p:txBody>
      </p:sp>
      <p:pic>
        <p:nvPicPr>
          <p:cNvPr id="10" name="Image 3" descr="preencoded.png"/>
          <p:cNvPicPr>
            <a:picLocks noChangeAspect="1"/>
          </p:cNvPicPr>
          <p:nvPr/>
        </p:nvPicPr>
        <p:blipFill>
          <a:blip r:embed="rId6"/>
          <a:stretch>
            <a:fillRect/>
          </a:stretch>
        </p:blipFill>
        <p:spPr>
          <a:xfrm>
            <a:off x="6266498" y="5315069"/>
            <a:ext cx="1114425" cy="1337429"/>
          </a:xfrm>
          <a:prstGeom prst="rect">
            <a:avLst/>
          </a:prstGeom>
        </p:spPr>
      </p:pic>
      <p:sp>
        <p:nvSpPr>
          <p:cNvPr id="11" name="Text 5"/>
          <p:cNvSpPr/>
          <p:nvPr/>
        </p:nvSpPr>
        <p:spPr>
          <a:xfrm>
            <a:off x="7599878" y="5537954"/>
            <a:ext cx="2786301" cy="348258"/>
          </a:xfrm>
          <a:prstGeom prst="rect">
            <a:avLst/>
          </a:prstGeom>
          <a:noFill/>
          <a:ln/>
        </p:spPr>
        <p:txBody>
          <a:bodyPr wrap="none" lIns="0" tIns="0" rIns="0" bIns="0" rtlCol="0" anchor="t"/>
          <a:lstStyle/>
          <a:p>
            <a:pPr marL="0" indent="0" algn="l">
              <a:lnSpc>
                <a:spcPts val="2700"/>
              </a:lnSpc>
              <a:buNone/>
            </a:pPr>
            <a:r>
              <a:rPr lang="en-US" sz="2150" dirty="0">
                <a:solidFill>
                  <a:srgbClr val="CFCBBF"/>
                </a:solidFill>
                <a:latin typeface="Prata" pitchFamily="34" charset="0"/>
                <a:ea typeface="Prata" pitchFamily="34" charset="-122"/>
                <a:cs typeface="Prata" pitchFamily="34" charset="-120"/>
              </a:rPr>
              <a:t>Revenue Growth</a:t>
            </a:r>
            <a:endParaRPr lang="en-US" sz="2150" dirty="0"/>
          </a:p>
        </p:txBody>
      </p:sp>
      <p:sp>
        <p:nvSpPr>
          <p:cNvPr id="12" name="Text 6"/>
          <p:cNvSpPr/>
          <p:nvPr/>
        </p:nvSpPr>
        <p:spPr>
          <a:xfrm>
            <a:off x="7599878" y="6017538"/>
            <a:ext cx="6250424" cy="353497"/>
          </a:xfrm>
          <a:prstGeom prst="rect">
            <a:avLst/>
          </a:prstGeom>
          <a:noFill/>
          <a:ln/>
        </p:spPr>
        <p:txBody>
          <a:bodyPr wrap="none" lIns="0" tIns="0" rIns="0" bIns="0" rtlCol="0" anchor="t"/>
          <a:lstStyle/>
          <a:p>
            <a:pPr marL="0" indent="0" algn="l">
              <a:lnSpc>
                <a:spcPts val="2750"/>
              </a:lnSpc>
              <a:buNone/>
            </a:pPr>
            <a:r>
              <a:rPr lang="en-US" sz="1750" dirty="0">
                <a:solidFill>
                  <a:srgbClr val="CFCBBF"/>
                </a:solidFill>
                <a:latin typeface="Raleway" pitchFamily="34" charset="0"/>
                <a:ea typeface="Raleway" pitchFamily="34" charset="-122"/>
                <a:cs typeface="Raleway" pitchFamily="34" charset="-120"/>
              </a:rPr>
              <a:t>Bookings increased dramatically and business took off</a:t>
            </a:r>
            <a:endParaRPr lang="en-US" sz="1750" dirty="0"/>
          </a:p>
        </p:txBody>
      </p:sp>
      <p:sp>
        <p:nvSpPr>
          <p:cNvPr id="13" name="Text 7"/>
          <p:cNvSpPr/>
          <p:nvPr/>
        </p:nvSpPr>
        <p:spPr>
          <a:xfrm>
            <a:off x="6266498" y="6898838"/>
            <a:ext cx="7583805" cy="706993"/>
          </a:xfrm>
          <a:prstGeom prst="rect">
            <a:avLst/>
          </a:prstGeom>
          <a:noFill/>
          <a:ln/>
        </p:spPr>
        <p:txBody>
          <a:bodyPr wrap="square" lIns="0" tIns="0" rIns="0" bIns="0" rtlCol="0" anchor="t"/>
          <a:lstStyle/>
          <a:p>
            <a:pPr marL="0" indent="0" algn="l">
              <a:lnSpc>
                <a:spcPts val="2750"/>
              </a:lnSpc>
              <a:buNone/>
            </a:pPr>
            <a:r>
              <a:rPr lang="en-US" sz="1750" dirty="0">
                <a:solidFill>
                  <a:srgbClr val="CFCBBF"/>
                </a:solidFill>
                <a:latin typeface="Raleway" pitchFamily="34" charset="0"/>
                <a:ea typeface="Raleway" pitchFamily="34" charset="-122"/>
                <a:cs typeface="Raleway" pitchFamily="34" charset="-120"/>
              </a:rPr>
              <a:t>By focusing on the user's need to </a:t>
            </a:r>
            <a:r>
              <a:rPr lang="en-US" sz="1750" dirty="0">
                <a:solidFill>
                  <a:srgbClr val="EEE27D"/>
                </a:solidFill>
                <a:latin typeface="Raleway" pitchFamily="34" charset="0"/>
                <a:ea typeface="Raleway" pitchFamily="34" charset="-122"/>
                <a:cs typeface="Raleway" pitchFamily="34" charset="-120"/>
              </a:rPr>
              <a:t>visualize and trust</a:t>
            </a:r>
            <a:r>
              <a:rPr lang="en-US" sz="1750" dirty="0">
                <a:solidFill>
                  <a:srgbClr val="CFCBBF"/>
                </a:solidFill>
                <a:latin typeface="Raleway" pitchFamily="34" charset="0"/>
                <a:ea typeface="Raleway" pitchFamily="34" charset="-122"/>
                <a:cs typeface="Raleway" pitchFamily="34" charset="-120"/>
              </a:rPr>
              <a:t> the space, Airbnb transformed from a struggling startup into a global phenomenon.</a:t>
            </a:r>
            <a:endParaRPr lang="en-US" sz="1750" dirty="0"/>
          </a:p>
        </p:txBody>
      </p:sp>
      <p:sp>
        <p:nvSpPr>
          <p:cNvPr id="14" name="Rectangle 13">
            <a:extLst>
              <a:ext uri="{FF2B5EF4-FFF2-40B4-BE49-F238E27FC236}">
                <a16:creationId xmlns:a16="http://schemas.microsoft.com/office/drawing/2014/main" id="{E362ACA4-D0AB-A0E1-5925-66D210196B60}"/>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7587" y="930950"/>
            <a:ext cx="4983123" cy="622816"/>
          </a:xfrm>
          <a:prstGeom prst="rect">
            <a:avLst/>
          </a:prstGeom>
          <a:noFill/>
          <a:ln/>
        </p:spPr>
        <p:txBody>
          <a:bodyPr wrap="none" lIns="0" tIns="0" rIns="0" bIns="0" rtlCol="0" anchor="t"/>
          <a:lstStyle/>
          <a:p>
            <a:pPr marL="0" indent="0" algn="l">
              <a:lnSpc>
                <a:spcPts val="4900"/>
              </a:lnSpc>
              <a:buNone/>
            </a:pPr>
            <a:r>
              <a:rPr lang="en-US" sz="3900" dirty="0">
                <a:solidFill>
                  <a:srgbClr val="F2E782"/>
                </a:solidFill>
                <a:latin typeface="Prata" pitchFamily="34" charset="0"/>
                <a:ea typeface="Prata" pitchFamily="34" charset="-122"/>
                <a:cs typeface="Prata" pitchFamily="34" charset="-120"/>
              </a:rPr>
              <a:t>Case Study 3: Oral B</a:t>
            </a:r>
            <a:endParaRPr lang="en-US" sz="3900" dirty="0"/>
          </a:p>
        </p:txBody>
      </p:sp>
      <p:sp>
        <p:nvSpPr>
          <p:cNvPr id="3" name="Text 1"/>
          <p:cNvSpPr/>
          <p:nvPr/>
        </p:nvSpPr>
        <p:spPr>
          <a:xfrm>
            <a:off x="697587" y="1623774"/>
            <a:ext cx="3135154" cy="311468"/>
          </a:xfrm>
          <a:prstGeom prst="rect">
            <a:avLst/>
          </a:prstGeom>
          <a:noFill/>
          <a:ln/>
        </p:spPr>
        <p:txBody>
          <a:bodyPr wrap="none" lIns="0" tIns="0" rIns="0" bIns="0" rtlCol="0" anchor="t"/>
          <a:lstStyle/>
          <a:p>
            <a:pPr marL="0" indent="0" algn="l">
              <a:lnSpc>
                <a:spcPts val="2450"/>
              </a:lnSpc>
              <a:buNone/>
            </a:pPr>
            <a:r>
              <a:rPr lang="en-US" sz="1950" dirty="0">
                <a:solidFill>
                  <a:srgbClr val="F2E782"/>
                </a:solidFill>
                <a:latin typeface="Prata" pitchFamily="34" charset="0"/>
                <a:ea typeface="Prata" pitchFamily="34" charset="-122"/>
                <a:cs typeface="Prata" pitchFamily="34" charset="-120"/>
              </a:rPr>
              <a:t>Designing for Little Hands</a:t>
            </a:r>
            <a:endParaRPr lang="en-US" sz="1950" dirty="0"/>
          </a:p>
        </p:txBody>
      </p:sp>
      <p:pic>
        <p:nvPicPr>
          <p:cNvPr id="4" name="Image 0" descr="preencoded.png"/>
          <p:cNvPicPr>
            <a:picLocks noChangeAspect="1"/>
          </p:cNvPicPr>
          <p:nvPr/>
        </p:nvPicPr>
        <p:blipFill>
          <a:blip r:embed="rId3"/>
          <a:stretch>
            <a:fillRect/>
          </a:stretch>
        </p:blipFill>
        <p:spPr>
          <a:xfrm>
            <a:off x="697587" y="2394942"/>
            <a:ext cx="8432602" cy="4706541"/>
          </a:xfrm>
          <a:prstGeom prst="rect">
            <a:avLst/>
          </a:prstGeom>
        </p:spPr>
      </p:pic>
      <p:sp>
        <p:nvSpPr>
          <p:cNvPr id="5" name="Text 2"/>
          <p:cNvSpPr/>
          <p:nvPr/>
        </p:nvSpPr>
        <p:spPr>
          <a:xfrm>
            <a:off x="9624060" y="2503884"/>
            <a:ext cx="2491502" cy="311468"/>
          </a:xfrm>
          <a:prstGeom prst="rect">
            <a:avLst/>
          </a:prstGeom>
          <a:noFill/>
          <a:ln/>
        </p:spPr>
        <p:txBody>
          <a:bodyPr wrap="none" lIns="0" tIns="0" rIns="0" bIns="0" rtlCol="0" anchor="t"/>
          <a:lstStyle/>
          <a:p>
            <a:pPr marL="0" indent="0" algn="l">
              <a:lnSpc>
                <a:spcPts val="2450"/>
              </a:lnSpc>
              <a:buNone/>
            </a:pPr>
            <a:r>
              <a:rPr lang="en-US" sz="1950" dirty="0">
                <a:solidFill>
                  <a:srgbClr val="F2E782"/>
                </a:solidFill>
                <a:latin typeface="Prata" pitchFamily="34" charset="0"/>
                <a:ea typeface="Prata" pitchFamily="34" charset="-122"/>
                <a:cs typeface="Prata" pitchFamily="34" charset="-120"/>
              </a:rPr>
              <a:t>The Problem</a:t>
            </a:r>
            <a:endParaRPr lang="en-US" sz="1950" dirty="0"/>
          </a:p>
        </p:txBody>
      </p:sp>
      <p:sp>
        <p:nvSpPr>
          <p:cNvPr id="6" name="Text 3"/>
          <p:cNvSpPr/>
          <p:nvPr/>
        </p:nvSpPr>
        <p:spPr>
          <a:xfrm>
            <a:off x="9624060" y="2990493"/>
            <a:ext cx="4316254" cy="898684"/>
          </a:xfrm>
          <a:prstGeom prst="rect">
            <a:avLst/>
          </a:prstGeom>
          <a:noFill/>
          <a:ln/>
        </p:spPr>
        <p:txBody>
          <a:bodyPr wrap="square" lIns="0" tIns="0" rIns="0" bIns="0" rtlCol="0" anchor="t"/>
          <a:lstStyle/>
          <a:p>
            <a:pPr marL="0" indent="0" algn="l">
              <a:lnSpc>
                <a:spcPts val="2350"/>
              </a:lnSpc>
              <a:buNone/>
            </a:pPr>
            <a:r>
              <a:rPr lang="en-US" sz="1550" dirty="0">
                <a:solidFill>
                  <a:srgbClr val="CFCBBF"/>
                </a:solidFill>
                <a:latin typeface="Raleway" pitchFamily="34" charset="0"/>
                <a:ea typeface="Raleway" pitchFamily="34" charset="-122"/>
                <a:cs typeface="Raleway" pitchFamily="34" charset="-120"/>
              </a:rPr>
              <a:t>Children couldn't properly hold traditional thin toothbrush handles, leading to ineffective brushing and frustration.</a:t>
            </a:r>
            <a:endParaRPr lang="en-US" sz="1550" dirty="0"/>
          </a:p>
        </p:txBody>
      </p:sp>
      <p:sp>
        <p:nvSpPr>
          <p:cNvPr id="7" name="Text 4"/>
          <p:cNvSpPr/>
          <p:nvPr/>
        </p:nvSpPr>
        <p:spPr>
          <a:xfrm>
            <a:off x="9624060" y="4064318"/>
            <a:ext cx="2491502" cy="311468"/>
          </a:xfrm>
          <a:prstGeom prst="rect">
            <a:avLst/>
          </a:prstGeom>
          <a:noFill/>
          <a:ln/>
        </p:spPr>
        <p:txBody>
          <a:bodyPr wrap="none" lIns="0" tIns="0" rIns="0" bIns="0" rtlCol="0" anchor="t"/>
          <a:lstStyle/>
          <a:p>
            <a:pPr marL="0" indent="0" algn="l">
              <a:lnSpc>
                <a:spcPts val="2450"/>
              </a:lnSpc>
              <a:buNone/>
            </a:pPr>
            <a:r>
              <a:rPr lang="en-US" sz="1950" dirty="0">
                <a:solidFill>
                  <a:srgbClr val="F2E782"/>
                </a:solidFill>
                <a:latin typeface="Prata" pitchFamily="34" charset="0"/>
                <a:ea typeface="Prata" pitchFamily="34" charset="-122"/>
                <a:cs typeface="Prata" pitchFamily="34" charset="-120"/>
              </a:rPr>
              <a:t>The Solution</a:t>
            </a:r>
            <a:endParaRPr lang="en-US" sz="1950" dirty="0"/>
          </a:p>
        </p:txBody>
      </p:sp>
      <p:sp>
        <p:nvSpPr>
          <p:cNvPr id="8" name="Text 5"/>
          <p:cNvSpPr/>
          <p:nvPr/>
        </p:nvSpPr>
        <p:spPr>
          <a:xfrm>
            <a:off x="9624060" y="4550926"/>
            <a:ext cx="4316254" cy="898684"/>
          </a:xfrm>
          <a:prstGeom prst="rect">
            <a:avLst/>
          </a:prstGeom>
          <a:noFill/>
          <a:ln/>
        </p:spPr>
        <p:txBody>
          <a:bodyPr wrap="square" lIns="0" tIns="0" rIns="0" bIns="0" rtlCol="0" anchor="t"/>
          <a:lstStyle/>
          <a:p>
            <a:pPr marL="0" indent="0" algn="l">
              <a:lnSpc>
                <a:spcPts val="2350"/>
              </a:lnSpc>
              <a:buNone/>
            </a:pPr>
            <a:r>
              <a:rPr lang="en-US" sz="1550" dirty="0">
                <a:solidFill>
                  <a:srgbClr val="CFCBBF"/>
                </a:solidFill>
                <a:latin typeface="Raleway" pitchFamily="34" charset="0"/>
                <a:ea typeface="Raleway" pitchFamily="34" charset="-122"/>
                <a:cs typeface="Raleway" pitchFamily="34" charset="-120"/>
              </a:rPr>
              <a:t>Designers created the </a:t>
            </a:r>
            <a:r>
              <a:rPr lang="en-US" sz="1550" dirty="0">
                <a:solidFill>
                  <a:srgbClr val="EEE27D"/>
                </a:solidFill>
                <a:latin typeface="Raleway" pitchFamily="34" charset="0"/>
                <a:ea typeface="Raleway" pitchFamily="34" charset="-122"/>
                <a:cs typeface="Raleway" pitchFamily="34" charset="-120"/>
              </a:rPr>
              <a:t>"Squish Gripper"</a:t>
            </a:r>
            <a:r>
              <a:rPr lang="en-US" sz="1550" dirty="0">
                <a:solidFill>
                  <a:srgbClr val="CFCBBF"/>
                </a:solidFill>
                <a:latin typeface="Raleway" pitchFamily="34" charset="0"/>
                <a:ea typeface="Raleway" pitchFamily="34" charset="-122"/>
                <a:cs typeface="Raleway" pitchFamily="34" charset="-120"/>
              </a:rPr>
              <a:t> toothbrush with a thick, ergonomic handle that fits comfortably in small hands.</a:t>
            </a:r>
            <a:endParaRPr lang="en-US" sz="1550" dirty="0"/>
          </a:p>
        </p:txBody>
      </p:sp>
      <p:sp>
        <p:nvSpPr>
          <p:cNvPr id="9" name="Text 6"/>
          <p:cNvSpPr/>
          <p:nvPr/>
        </p:nvSpPr>
        <p:spPr>
          <a:xfrm>
            <a:off x="9624060" y="5624751"/>
            <a:ext cx="2491502" cy="311468"/>
          </a:xfrm>
          <a:prstGeom prst="rect">
            <a:avLst/>
          </a:prstGeom>
          <a:noFill/>
          <a:ln/>
        </p:spPr>
        <p:txBody>
          <a:bodyPr wrap="none" lIns="0" tIns="0" rIns="0" bIns="0" rtlCol="0" anchor="t"/>
          <a:lstStyle/>
          <a:p>
            <a:pPr marL="0" indent="0" algn="l">
              <a:lnSpc>
                <a:spcPts val="2450"/>
              </a:lnSpc>
              <a:buNone/>
            </a:pPr>
            <a:r>
              <a:rPr lang="en-US" sz="1950" dirty="0">
                <a:solidFill>
                  <a:srgbClr val="F2E782"/>
                </a:solidFill>
                <a:latin typeface="Prata" pitchFamily="34" charset="0"/>
                <a:ea typeface="Prata" pitchFamily="34" charset="-122"/>
                <a:cs typeface="Prata" pitchFamily="34" charset="-120"/>
              </a:rPr>
              <a:t>The Result</a:t>
            </a:r>
            <a:endParaRPr lang="en-US" sz="1950" dirty="0"/>
          </a:p>
        </p:txBody>
      </p:sp>
      <p:sp>
        <p:nvSpPr>
          <p:cNvPr id="10" name="Text 7"/>
          <p:cNvSpPr/>
          <p:nvPr/>
        </p:nvSpPr>
        <p:spPr>
          <a:xfrm>
            <a:off x="9624060" y="6111359"/>
            <a:ext cx="4316254" cy="898684"/>
          </a:xfrm>
          <a:prstGeom prst="rect">
            <a:avLst/>
          </a:prstGeom>
          <a:noFill/>
          <a:ln/>
        </p:spPr>
        <p:txBody>
          <a:bodyPr wrap="square" lIns="0" tIns="0" rIns="0" bIns="0" rtlCol="0" anchor="t"/>
          <a:lstStyle/>
          <a:p>
            <a:pPr marL="0" indent="0" algn="l">
              <a:lnSpc>
                <a:spcPts val="2350"/>
              </a:lnSpc>
              <a:buNone/>
            </a:pPr>
            <a:r>
              <a:rPr lang="en-US" sz="1550" dirty="0">
                <a:solidFill>
                  <a:srgbClr val="CFCBBF"/>
                </a:solidFill>
                <a:latin typeface="Raleway" pitchFamily="34" charset="0"/>
                <a:ea typeface="Raleway" pitchFamily="34" charset="-122"/>
                <a:cs typeface="Raleway" pitchFamily="34" charset="-120"/>
              </a:rPr>
              <a:t>Better grip and more effective brushing for children, turning a daily chore into a positive experience.</a:t>
            </a:r>
            <a:endParaRPr lang="en-US" sz="1550" dirty="0"/>
          </a:p>
        </p:txBody>
      </p:sp>
      <p:sp>
        <p:nvSpPr>
          <p:cNvPr id="11" name="Rectangle 10">
            <a:extLst>
              <a:ext uri="{FF2B5EF4-FFF2-40B4-BE49-F238E27FC236}">
                <a16:creationId xmlns:a16="http://schemas.microsoft.com/office/drawing/2014/main" id="{C2D50673-B6B5-603D-02FE-9168502163EF}"/>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573054"/>
            <a:ext cx="7090648"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Key Insights &amp; Conclusion</a:t>
            </a:r>
            <a:endParaRPr lang="en-US" sz="4450" dirty="0"/>
          </a:p>
        </p:txBody>
      </p:sp>
      <p:sp>
        <p:nvSpPr>
          <p:cNvPr id="3" name="Shape 1"/>
          <p:cNvSpPr/>
          <p:nvPr/>
        </p:nvSpPr>
        <p:spPr>
          <a:xfrm>
            <a:off x="793790" y="2735461"/>
            <a:ext cx="4196358" cy="2940010"/>
          </a:xfrm>
          <a:prstGeom prst="roundRect">
            <a:avLst>
              <a:gd name="adj" fmla="val 1157"/>
            </a:avLst>
          </a:prstGeom>
          <a:solidFill>
            <a:srgbClr val="3A3B3C"/>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1020604" y="2962275"/>
            <a:ext cx="680442" cy="680442"/>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7770" y="3149322"/>
            <a:ext cx="306110" cy="306110"/>
          </a:xfrm>
          <a:prstGeom prst="rect">
            <a:avLst/>
          </a:prstGeom>
        </p:spPr>
      </p:pic>
      <p:sp>
        <p:nvSpPr>
          <p:cNvPr id="6" name="Text 2"/>
          <p:cNvSpPr/>
          <p:nvPr/>
        </p:nvSpPr>
        <p:spPr>
          <a:xfrm>
            <a:off x="1020604" y="3869531"/>
            <a:ext cx="3017877"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User-Centered Design</a:t>
            </a:r>
            <a:endParaRPr lang="en-US" sz="2200" dirty="0"/>
          </a:p>
        </p:txBody>
      </p:sp>
      <p:sp>
        <p:nvSpPr>
          <p:cNvPr id="7" name="Text 3"/>
          <p:cNvSpPr/>
          <p:nvPr/>
        </p:nvSpPr>
        <p:spPr>
          <a:xfrm>
            <a:off x="1020604" y="435995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All three companies succeeded by deeply understanding their users' real needs</a:t>
            </a:r>
            <a:endParaRPr lang="en-US" sz="1750" dirty="0"/>
          </a:p>
        </p:txBody>
      </p:sp>
      <p:sp>
        <p:nvSpPr>
          <p:cNvPr id="8" name="Shape 4"/>
          <p:cNvSpPr/>
          <p:nvPr/>
        </p:nvSpPr>
        <p:spPr>
          <a:xfrm>
            <a:off x="5216962" y="2735461"/>
            <a:ext cx="4196358" cy="2940010"/>
          </a:xfrm>
          <a:prstGeom prst="roundRect">
            <a:avLst>
              <a:gd name="adj" fmla="val 1157"/>
            </a:avLst>
          </a:prstGeom>
          <a:solidFill>
            <a:srgbClr val="3A3B3C"/>
          </a:solidFill>
          <a:ln/>
        </p:spPr>
        <p:txBody>
          <a:bodyPr/>
          <a:lstStyle/>
          <a:p>
            <a:endParaRPr lang="en-IN"/>
          </a:p>
        </p:txBody>
      </p:sp>
      <p:pic>
        <p:nvPicPr>
          <p:cNvPr id="9" name="Image 2" descr="preencoded.png"/>
          <p:cNvPicPr>
            <a:picLocks noChangeAspect="1"/>
          </p:cNvPicPr>
          <p:nvPr/>
        </p:nvPicPr>
        <p:blipFill>
          <a:blip r:embed="rId6"/>
          <a:stretch>
            <a:fillRect/>
          </a:stretch>
        </p:blipFill>
        <p:spPr>
          <a:xfrm>
            <a:off x="5443776" y="2962275"/>
            <a:ext cx="680442" cy="680442"/>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0942" y="3149322"/>
            <a:ext cx="306110" cy="306110"/>
          </a:xfrm>
          <a:prstGeom prst="rect">
            <a:avLst/>
          </a:prstGeom>
        </p:spPr>
      </p:pic>
      <p:sp>
        <p:nvSpPr>
          <p:cNvPr id="11" name="Text 5"/>
          <p:cNvSpPr/>
          <p:nvPr/>
        </p:nvSpPr>
        <p:spPr>
          <a:xfrm>
            <a:off x="5443776" y="38695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Creative Solutions</a:t>
            </a:r>
            <a:endParaRPr lang="en-US" sz="2200" dirty="0"/>
          </a:p>
        </p:txBody>
      </p:sp>
      <p:sp>
        <p:nvSpPr>
          <p:cNvPr id="12" name="Text 6"/>
          <p:cNvSpPr/>
          <p:nvPr/>
        </p:nvSpPr>
        <p:spPr>
          <a:xfrm>
            <a:off x="5443776" y="435995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Innovation came from observing behavior and identifying genuine problems</a:t>
            </a:r>
            <a:endParaRPr lang="en-US" sz="1750" dirty="0"/>
          </a:p>
        </p:txBody>
      </p:sp>
      <p:sp>
        <p:nvSpPr>
          <p:cNvPr id="13" name="Shape 7"/>
          <p:cNvSpPr/>
          <p:nvPr/>
        </p:nvSpPr>
        <p:spPr>
          <a:xfrm>
            <a:off x="9640133" y="2735461"/>
            <a:ext cx="4196358" cy="2940010"/>
          </a:xfrm>
          <a:prstGeom prst="roundRect">
            <a:avLst>
              <a:gd name="adj" fmla="val 1157"/>
            </a:avLst>
          </a:prstGeom>
          <a:solidFill>
            <a:srgbClr val="3A3B3C"/>
          </a:solidFill>
          <a:ln/>
        </p:spPr>
        <p:txBody>
          <a:bodyPr/>
          <a:lstStyle/>
          <a:p>
            <a:endParaRPr lang="en-IN"/>
          </a:p>
        </p:txBody>
      </p:sp>
      <p:pic>
        <p:nvPicPr>
          <p:cNvPr id="14" name="Image 4" descr="preencoded.png"/>
          <p:cNvPicPr>
            <a:picLocks noChangeAspect="1"/>
          </p:cNvPicPr>
          <p:nvPr/>
        </p:nvPicPr>
        <p:blipFill>
          <a:blip r:embed="rId9"/>
          <a:stretch>
            <a:fillRect/>
          </a:stretch>
        </p:blipFill>
        <p:spPr>
          <a:xfrm>
            <a:off x="9866948" y="2962275"/>
            <a:ext cx="680442" cy="680442"/>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54114" y="3149322"/>
            <a:ext cx="306110" cy="306110"/>
          </a:xfrm>
          <a:prstGeom prst="rect">
            <a:avLst/>
          </a:prstGeom>
        </p:spPr>
      </p:pic>
      <p:sp>
        <p:nvSpPr>
          <p:cNvPr id="16" name="Text 8"/>
          <p:cNvSpPr/>
          <p:nvPr/>
        </p:nvSpPr>
        <p:spPr>
          <a:xfrm>
            <a:off x="9866948" y="38695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Business Impact</a:t>
            </a:r>
            <a:endParaRPr lang="en-US" sz="2200" dirty="0"/>
          </a:p>
        </p:txBody>
      </p:sp>
      <p:sp>
        <p:nvSpPr>
          <p:cNvPr id="17" name="Text 9"/>
          <p:cNvSpPr/>
          <p:nvPr/>
        </p:nvSpPr>
        <p:spPr>
          <a:xfrm>
            <a:off x="9866948" y="435995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Focusing on user needs drives both product excellence and commercial success</a:t>
            </a:r>
            <a:endParaRPr lang="en-US" sz="1750" dirty="0"/>
          </a:p>
        </p:txBody>
      </p:sp>
      <p:sp>
        <p:nvSpPr>
          <p:cNvPr id="18" name="Text 10"/>
          <p:cNvSpPr/>
          <p:nvPr/>
        </p:nvSpPr>
        <p:spPr>
          <a:xfrm>
            <a:off x="793790" y="593062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Design Thinking helps create </a:t>
            </a:r>
            <a:r>
              <a:rPr lang="en-US" sz="1750" dirty="0">
                <a:solidFill>
                  <a:srgbClr val="EEE27D"/>
                </a:solidFill>
                <a:latin typeface="Raleway" pitchFamily="34" charset="0"/>
                <a:ea typeface="Raleway" pitchFamily="34" charset="-122"/>
                <a:cs typeface="Raleway" pitchFamily="34" charset="-120"/>
              </a:rPr>
              <a:t>better, more innovative products</a:t>
            </a:r>
            <a:r>
              <a:rPr lang="en-US" sz="1750" dirty="0">
                <a:solidFill>
                  <a:srgbClr val="CFCBBF"/>
                </a:solidFill>
                <a:latin typeface="Raleway" pitchFamily="34" charset="0"/>
                <a:ea typeface="Raleway" pitchFamily="34" charset="-122"/>
                <a:cs typeface="Raleway" pitchFamily="34" charset="-120"/>
              </a:rPr>
              <a:t> by keeping user needs at the center of every decision. Nike, Airbnb, and Oral B demonstrate how this approach transforms challenges into opportunities for breakthrough innovation.</a:t>
            </a:r>
            <a:endParaRPr lang="en-US" sz="1750" dirty="0"/>
          </a:p>
        </p:txBody>
      </p:sp>
      <p:sp>
        <p:nvSpPr>
          <p:cNvPr id="19" name="Rectangle 18">
            <a:extLst>
              <a:ext uri="{FF2B5EF4-FFF2-40B4-BE49-F238E27FC236}">
                <a16:creationId xmlns:a16="http://schemas.microsoft.com/office/drawing/2014/main" id="{9D350A37-43A3-70CD-F123-F6C4DBBDA83A}"/>
              </a:ext>
            </a:extLst>
          </p:cNvPr>
          <p:cNvSpPr/>
          <p:nvPr/>
        </p:nvSpPr>
        <p:spPr>
          <a:xfrm>
            <a:off x="12734693" y="7738946"/>
            <a:ext cx="1795346" cy="490654"/>
          </a:xfrm>
          <a:prstGeom prst="rect">
            <a:avLst/>
          </a:prstGeom>
          <a:solidFill>
            <a:srgbClr val="1B1C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597</Words>
  <Application>Microsoft Office PowerPoint</Application>
  <PresentationFormat>Custom</PresentationFormat>
  <Paragraphs>90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Raleway</vt:lpstr>
      <vt:lpstr>Prata Light</vt:lpstr>
      <vt:lpstr>Prata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siddhartha singh</dc:creator>
  <cp:lastModifiedBy>siddhartha singh</cp:lastModifiedBy>
  <cp:revision>2</cp:revision>
  <dcterms:created xsi:type="dcterms:W3CDTF">2026-03-08T06:56:52Z</dcterms:created>
  <dcterms:modified xsi:type="dcterms:W3CDTF">2026-03-10T13:10:42Z</dcterms:modified>
</cp:coreProperties>
</file>